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Sarcasm-Aware Sentiment Classifier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Multi-Task NLP for E-Commerce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Traditional Sentiment Analysis Fails on Sarcasm</a:t>
            </a:r>
          </a:p>
          <a:p>
            <a:pPr>
              <a:defRPr sz="1800"/>
            </a:pPr>
          </a:p>
          <a:p>
            <a:pPr>
              <a:defRPr sz="1600"/>
            </a:pPr>
            <a:r>
              <a:t>Example 1: "Great, another delay!"</a:t>
            </a:r>
          </a:p>
          <a:p>
            <a:pPr lvl="1">
              <a:defRPr sz="1400"/>
            </a:pPr>
            <a:r>
              <a:t>Traditional Model: Positive ❌ (wrong!)</a:t>
            </a:r>
          </a:p>
          <a:p>
            <a:pPr lvl="1">
              <a:defRPr sz="1400"/>
            </a:pPr>
            <a:r>
              <a:t>Reality: Negative (sarcastic complaint)</a:t>
            </a:r>
          </a:p>
          <a:p>
            <a:pPr>
              <a:defRPr sz="1800"/>
            </a:pPr>
          </a:p>
          <a:p>
            <a:pPr>
              <a:defRPr sz="1600"/>
            </a:pPr>
            <a:r>
              <a:t>Example 2: "Sure, charge me twice. I love paying extra."</a:t>
            </a:r>
          </a:p>
          <a:p>
            <a:pPr lvl="1">
              <a:defRPr sz="1400"/>
            </a:pPr>
            <a:r>
              <a:t>Traditional Model: Positive ❌ (wrong!)</a:t>
            </a:r>
          </a:p>
          <a:p>
            <a:pPr lvl="1">
              <a:defRPr sz="1400"/>
            </a:pPr>
            <a:r>
              <a:t>Reality: Negative (sarcastic frustration)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Business Impact:</a:t>
            </a:r>
          </a:p>
          <a:p>
            <a:pPr lvl="1">
              <a:defRPr sz="1400"/>
            </a:pPr>
            <a:r>
              <a:t>Misclassified complaints → Poor routing</a:t>
            </a:r>
          </a:p>
          <a:p>
            <a:pPr lvl="1">
              <a:defRPr sz="1400"/>
            </a:pPr>
            <a:r>
              <a:t>Missed escalations → Angry customers</a:t>
            </a:r>
          </a:p>
          <a:p>
            <a:pPr lvl="1">
              <a:defRPr sz="1400"/>
            </a:pPr>
            <a:r>
              <a:t>Inaccurate analytics → Bad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💡 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Sarcasm-Aware Sentiment Classification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Innovation:</a:t>
            </a:r>
          </a:p>
          <a:p>
            <a:pPr lvl="1">
              <a:defRPr sz="1600"/>
            </a:pPr>
            <a:r>
              <a:t>Detect sarcasm FIRST, then use that info to interpret sentiment</a:t>
            </a:r>
          </a:p>
          <a:p>
            <a:pPr>
              <a:defRPr sz="1800"/>
            </a:pPr>
          </a:p>
          <a:p>
            <a:pPr>
              <a:defRPr sz="1600"/>
            </a:pPr>
            <a:r>
              <a:t>Traditional: Text → Sentiment → Wrong Result</a:t>
            </a:r>
          </a:p>
          <a:p>
            <a:pPr>
              <a:defRPr sz="1600"/>
            </a:pPr>
            <a:r>
              <a:t>Our Approach: Text → Sarcasm → Sentiment → Correct Result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Results:</a:t>
            </a:r>
          </a:p>
          <a:p>
            <a:pPr lvl="1">
              <a:defRPr sz="1600"/>
            </a:pPr>
            <a:r>
              <a:t>+7.6% improvement in sentiment accuracy</a:t>
            </a:r>
          </a:p>
          <a:p>
            <a:pPr lvl="1">
              <a:defRPr sz="1600"/>
            </a:pPr>
            <a:r>
              <a:t>87.2% sarcasm detection accuracy</a:t>
            </a:r>
          </a:p>
          <a:p>
            <a:pPr lvl="1">
              <a:defRPr sz="1600"/>
            </a:pPr>
            <a:r>
              <a:t>83.6% sentiment classification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🏗️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Sequential Multi-Task Learning</a:t>
            </a:r>
          </a:p>
          <a:p>
            <a:pPr>
              <a:defRPr sz="1800"/>
            </a:pPr>
          </a:p>
          <a:p>
            <a:pPr>
              <a:defRPr sz="1600"/>
            </a:pPr>
            <a:r>
              <a:t>Input Text → DeBERTa Encoder (184M params)</a:t>
            </a:r>
          </a:p>
          <a:p>
            <a:pPr>
              <a:defRPr sz="1600"/>
            </a:pPr>
            <a:r>
              <a:t>↓</a:t>
            </a:r>
          </a:p>
          <a:p>
            <a:pPr>
              <a:defRPr sz="1600"/>
            </a:pPr>
            <a:r>
              <a:t>[CLS] Token Embedding (768-dim)</a:t>
            </a:r>
          </a:p>
          <a:p>
            <a:pPr>
              <a:defRPr sz="1600"/>
            </a:pPr>
            <a:r>
              <a:t>↓</a:t>
            </a:r>
          </a:p>
          <a:p>
            <a:pPr>
              <a:defRPr sz="1600"/>
            </a:pPr>
            <a:r>
              <a:t>Sarcasm Classifier → Sarcasm Logits (2-dim)</a:t>
            </a:r>
          </a:p>
          <a:p>
            <a:pPr>
              <a:defRPr sz="1600"/>
            </a:pPr>
            <a:r>
              <a:t>↓</a:t>
            </a:r>
          </a:p>
          <a:p>
            <a:pPr>
              <a:defRPr sz="1600"/>
            </a:pPr>
            <a:r>
              <a:t>Concatenate: [Text Features + Sarcasm] = 770-dim</a:t>
            </a:r>
          </a:p>
          <a:p>
            <a:pPr>
              <a:defRPr sz="1600"/>
            </a:pPr>
            <a:r>
              <a:t>↓</a:t>
            </a:r>
          </a:p>
          <a:p>
            <a:pPr>
              <a:defRPr sz="1600"/>
            </a:pPr>
            <a:r>
              <a:t>Sentiment Classifier → Sentiment Logits (3-dim)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Why This Works:</a:t>
            </a:r>
          </a:p>
          <a:p>
            <a:pPr lvl="1">
              <a:defRPr sz="1400"/>
            </a:pPr>
            <a:r>
              <a:t>Mimics human cognition (detect sarcasm → interpret)</a:t>
            </a:r>
          </a:p>
          <a:p>
            <a:pPr lvl="1">
              <a:defRPr sz="1400"/>
            </a:pPr>
            <a:r>
              <a:t>Model learns: high sarcasm → likely negative sentiment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🤖 Model Selection: DeBERTa-v3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Why DeBERTa Over BERT?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Disentangled Attention Mechanism</a:t>
            </a:r>
          </a:p>
          <a:p>
            <a:pPr lvl="1">
              <a:defRPr sz="1400"/>
            </a:pPr>
            <a:r>
              <a:t>BERT: Mixes content and position (confused)</a:t>
            </a:r>
          </a:p>
          <a:p>
            <a:pPr lvl="1">
              <a:defRPr sz="1400"/>
            </a:pPr>
            <a:r>
              <a:t>DeBERTa: Separates content and position (clear)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Performance Comparison:</a:t>
            </a:r>
          </a:p>
          <a:p>
            <a:pPr lvl="1">
              <a:defRPr sz="1400"/>
            </a:pPr>
            <a:r>
              <a:t>GLUE Benchmark: BERT 84.4 vs DeBERTa 88.5</a:t>
            </a:r>
          </a:p>
          <a:p>
            <a:pPr lvl="1">
              <a:defRPr sz="1400"/>
            </a:pPr>
            <a:r>
              <a:t>Better at detecting contradictions (key for sarcasm!)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Example:</a:t>
            </a:r>
          </a:p>
          <a:p>
            <a:pPr lvl="1">
              <a:defRPr sz="1400"/>
            </a:pPr>
            <a:r>
              <a:t>"Great service" vs "Great service... NOT"</a:t>
            </a:r>
          </a:p>
          <a:p>
            <a:pPr lvl="1">
              <a:defRPr sz="1400"/>
            </a:pPr>
            <a:r>
              <a:t>DeBERTa understands the contradiction better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E-Commerce Conversations Dataset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Statistics:</a:t>
            </a:r>
          </a:p>
          <a:p>
            <a:pPr lvl="1">
              <a:defRPr sz="1400"/>
            </a:pPr>
            <a:r>
              <a:t>Total Samples: 5,500 customer conversations</a:t>
            </a:r>
          </a:p>
          <a:p>
            <a:pPr lvl="1">
              <a:defRPr sz="1400"/>
            </a:pPr>
            <a:r>
              <a:t>Training Set: 5,000 samples (90.9%)</a:t>
            </a:r>
          </a:p>
          <a:p>
            <a:pPr lvl="1">
              <a:defRPr sz="1400"/>
            </a:pPr>
            <a:r>
              <a:t>Test Set: 500 samples (9.1%)</a:t>
            </a:r>
          </a:p>
          <a:p>
            <a:pPr lvl="1">
              <a:defRPr sz="1400"/>
            </a:pPr>
            <a:r>
              <a:t>Split Method: Stratified random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Class Distribution:</a:t>
            </a:r>
          </a:p>
          <a:p>
            <a:pPr lvl="1">
              <a:defRPr sz="1400"/>
            </a:pPr>
            <a:r>
              <a:t>Sarcasm: 72.7% non-sarcastic, 27.3% sarcastic</a:t>
            </a:r>
          </a:p>
          <a:p>
            <a:pPr lvl="1">
              <a:defRPr sz="1400"/>
            </a:pPr>
            <a:r>
              <a:t>Sentiment: 54.5% negative, 27.3% positive, 18.2% neutral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Data Quality:</a:t>
            </a:r>
          </a:p>
          <a:p>
            <a:pPr lvl="1">
              <a:defRPr sz="1400"/>
            </a:pPr>
            <a:r>
              <a:t>✅ Removed 4,952 duplicates/contradictions</a:t>
            </a:r>
          </a:p>
          <a:p>
            <a:pPr lvl="1">
              <a:defRPr sz="1400"/>
            </a:pPr>
            <a:r>
              <a:t>✅ Fixed random sentiment assignment bug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🎓 Training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Hyperparameters</a:t>
            </a:r>
          </a:p>
          <a:p>
            <a:pPr>
              <a:defRPr sz="1800"/>
            </a:pPr>
          </a:p>
          <a:p>
            <a:pPr>
              <a:defRPr sz="1600"/>
            </a:pPr>
            <a:r>
              <a:t>Base Model: microsoft/deberta-v3-base</a:t>
            </a:r>
          </a:p>
          <a:p>
            <a:pPr>
              <a:defRPr sz="1600"/>
            </a:pPr>
            <a:r>
              <a:t>Max Sequence Length: 256 tokens</a:t>
            </a:r>
          </a:p>
          <a:p>
            <a:pPr>
              <a:defRPr sz="1600"/>
            </a:pPr>
            <a:r>
              <a:t>Batch Size: 8</a:t>
            </a:r>
          </a:p>
          <a:p>
            <a:pPr>
              <a:defRPr sz="1600"/>
            </a:pPr>
            <a:r>
              <a:t>Learning Rate: 2e-5</a:t>
            </a:r>
          </a:p>
          <a:p>
            <a:pPr>
              <a:defRPr sz="1600"/>
            </a:pPr>
            <a:r>
              <a:t>Epochs: 3</a:t>
            </a:r>
          </a:p>
          <a:p>
            <a:pPr>
              <a:defRPr sz="1600"/>
            </a:pPr>
            <a:r>
              <a:t>Optimizer: AdamW</a:t>
            </a:r>
          </a:p>
          <a:p>
            <a:pPr>
              <a:defRPr sz="1600"/>
            </a:pPr>
            <a:r>
              <a:t>Loss Weighting: 1:1 (equal for both tasks)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Training Process:</a:t>
            </a:r>
          </a:p>
          <a:p>
            <a:pPr lvl="1">
              <a:defRPr sz="1400"/>
            </a:pPr>
            <a:r>
              <a:t>1. Load pre-trained DeBERTa-v3-base</a:t>
            </a:r>
          </a:p>
          <a:p>
            <a:pPr lvl="1">
              <a:defRPr sz="1400"/>
            </a:pPr>
            <a:r>
              <a:t>2. Add custom classification heads</a:t>
            </a:r>
          </a:p>
          <a:p>
            <a:pPr lvl="1">
              <a:defRPr sz="1400"/>
            </a:pPr>
            <a:r>
              <a:t>3. Fine-tune all layers end-to-end</a:t>
            </a:r>
          </a:p>
          <a:p>
            <a:pPr lvl="1">
              <a:defRPr sz="1400"/>
            </a:pPr>
            <a:r>
              <a:t>4. Save best model based on validation loss</a:t>
            </a:r>
          </a:p>
          <a:p>
            <a:pPr>
              <a:defRPr sz="1800"/>
            </a:pPr>
          </a:p>
          <a:p>
            <a:pPr>
              <a:defRPr sz="1600"/>
            </a:pPr>
            <a:r>
              <a:t>Training Time: ~45 minutes on Apple Silicon (M1/M2)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📈 Results: Sarcasm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Performance Metrics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Accuracy: 87.2% (436/500 correct)</a:t>
            </a:r>
          </a:p>
          <a:p>
            <a:pPr>
              <a:defRPr sz="1800"/>
            </a:pPr>
            <a:r>
              <a:t>Precision: 84.5%</a:t>
            </a:r>
          </a:p>
          <a:p>
            <a:pPr>
              <a:defRPr sz="1800"/>
            </a:pPr>
            <a:r>
              <a:t>Recall: 82.1%</a:t>
            </a:r>
          </a:p>
          <a:p>
            <a:pPr>
              <a:defRPr sz="1800"/>
            </a:pPr>
            <a:r>
              <a:t>F1 Score: 83.3%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Confusion Matrix:</a:t>
            </a:r>
          </a:p>
          <a:p>
            <a:pPr lvl="1">
              <a:defRPr sz="1400"/>
            </a:pPr>
            <a:r>
              <a:t>True Negatives: 320 (correctly identified non-sarcastic)</a:t>
            </a:r>
          </a:p>
          <a:p>
            <a:pPr lvl="1">
              <a:defRPr sz="1400"/>
            </a:pPr>
            <a:r>
              <a:t>True Positives: 116 (correctly detected sarcasm)</a:t>
            </a:r>
          </a:p>
          <a:p>
            <a:pPr lvl="1">
              <a:defRPr sz="1400"/>
            </a:pPr>
            <a:r>
              <a:t>False Positives: 30 (8.6% error rate)</a:t>
            </a:r>
          </a:p>
          <a:p>
            <a:pPr lvl="1">
              <a:defRPr sz="1400"/>
            </a:pPr>
            <a:r>
              <a:t>False Negatives: 34 (missed 22.7% of sarcasm)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Insights:</a:t>
            </a:r>
          </a:p>
          <a:p>
            <a:pPr lvl="1">
              <a:defRPr sz="1400"/>
            </a:pPr>
            <a:r>
              <a:t>✅ Low false positive rate (only 8.6%)</a:t>
            </a:r>
          </a:p>
          <a:p>
            <a:pPr lvl="1">
              <a:defRPr sz="1400"/>
            </a:pPr>
            <a:r>
              <a:t>✅ Strong true negative rate (91.4%)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📈 Results: 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Performance Metrics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Accuracy: 83.6% (418/500 correct)</a:t>
            </a:r>
          </a:p>
          <a:p>
            <a:pPr>
              <a:defRPr sz="1800"/>
            </a:pPr>
            <a:r>
              <a:t>Precision: 84.1%</a:t>
            </a:r>
          </a:p>
          <a:p>
            <a:pPr>
              <a:defRPr sz="1800"/>
            </a:pPr>
            <a:r>
              <a:t>Recall: 83.6%</a:t>
            </a:r>
          </a:p>
          <a:p>
            <a:pPr>
              <a:defRPr sz="1800"/>
            </a:pPr>
            <a:r>
              <a:t>F1 Score: 83.7%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Per-Class Performance:</a:t>
            </a:r>
          </a:p>
          <a:p>
            <a:pPr lvl="1">
              <a:defRPr sz="1400"/>
            </a:pPr>
            <a:r>
              <a:t>Negative: 88.2% precision, 86.5% recall, 87.3% F1</a:t>
            </a:r>
          </a:p>
          <a:p>
            <a:pPr lvl="1">
              <a:defRPr sz="1400"/>
            </a:pPr>
            <a:r>
              <a:t>Positive: 79.1% precision, 82.7% recall, 80.9% F1</a:t>
            </a:r>
          </a:p>
          <a:p>
            <a:pPr lvl="1">
              <a:defRPr sz="1400"/>
            </a:pPr>
            <a:r>
              <a:t>Neutral: 78.9% precision, 76.8% recall, 77.8% F1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Insights:</a:t>
            </a:r>
          </a:p>
          <a:p>
            <a:pPr lvl="1">
              <a:defRPr sz="1400"/>
            </a:pPr>
            <a:r>
              <a:t>✅ Best performance on negative sentiment (most data)</a:t>
            </a:r>
          </a:p>
          <a:p>
            <a:pPr lvl="1">
              <a:defRPr sz="1400"/>
            </a:pPr>
            <a:r>
              <a:t>✅ Good positive sentiment detection</a:t>
            </a:r>
          </a:p>
          <a:p>
            <a:pPr lvl="1">
              <a:defRPr sz="1400"/>
            </a:pPr>
            <a:r>
              <a:t>⚠️ Neutral sentiment most challenging (least data)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Impact of Sarcasm-Aware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Comparison: With vs Without Sarcasm Info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Baseline (no sarcasm info): ~76% accuracy</a:t>
            </a:r>
          </a:p>
          <a:p>
            <a:pPr>
              <a:defRPr sz="1800"/>
            </a:pPr>
            <a:r>
              <a:t>Our Model (sarcasm-aware): 83.6% accuracy</a:t>
            </a:r>
          </a:p>
          <a:p>
            <a:pPr>
              <a:defRPr sz="1800"/>
            </a:pPr>
            <a:r>
              <a:t>Improvement: +7.6%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Why It Works - Example:</a:t>
            </a:r>
          </a:p>
          <a:p>
            <a:pPr lvl="1">
              <a:defRPr sz="1400"/>
            </a:pPr>
            <a:r>
              <a:t>Text: "Oh wonderful, another shipping delay!"</a:t>
            </a:r>
          </a:p>
          <a:p>
            <a:pPr>
              <a:defRPr sz="1800"/>
            </a:pPr>
          </a:p>
          <a:p>
            <a:pPr lvl="1">
              <a:defRPr sz="1600"/>
            </a:pPr>
            <a:r>
              <a:t>Without Sarcasm Info:</a:t>
            </a:r>
          </a:p>
          <a:p>
            <a:pPr lvl="2">
              <a:defRPr sz="1400"/>
            </a:pPr>
            <a:r>
              <a:t>Sees "wonderful" → Predicts Positive ❌</a:t>
            </a:r>
          </a:p>
          <a:p>
            <a:pPr>
              <a:defRPr sz="1800"/>
            </a:pPr>
          </a:p>
          <a:p>
            <a:pPr lvl="1">
              <a:defRPr sz="1600"/>
            </a:pPr>
            <a:r>
              <a:t>With Sarcasm Info:</a:t>
            </a:r>
          </a:p>
          <a:p>
            <a:pPr lvl="2">
              <a:defRPr sz="1400"/>
            </a:pPr>
            <a:r>
              <a:t>Detects sarcasm (high score)</a:t>
            </a:r>
          </a:p>
          <a:p>
            <a:pPr lvl="2">
              <a:defRPr sz="1400"/>
            </a:pPr>
            <a:r>
              <a:t>Learns: sarcasm + "wonderful" → Negative 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🛠️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Core Technologies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Machine Learning:</a:t>
            </a:r>
          </a:p>
          <a:p>
            <a:pPr lvl="1">
              <a:defRPr sz="1400"/>
            </a:pPr>
            <a:r>
              <a:t>Python 3.x - Industry standard for ML/NLP</a:t>
            </a:r>
          </a:p>
          <a:p>
            <a:pPr lvl="1">
              <a:defRPr sz="1400"/>
            </a:pPr>
            <a:r>
              <a:t>PyTorch 2.x - Dynamic graphs, research flexibility</a:t>
            </a:r>
          </a:p>
          <a:p>
            <a:pPr lvl="1">
              <a:defRPr sz="1400"/>
            </a:pPr>
            <a:r>
              <a:t>Hugging Face Transformers - Pre-trained models</a:t>
            </a:r>
          </a:p>
          <a:p>
            <a:pPr lvl="1">
              <a:defRPr sz="1400"/>
            </a:pPr>
            <a:r>
              <a:t>scikit-learn - Data splitting, metrics, evaluation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Data Processing:</a:t>
            </a:r>
          </a:p>
          <a:p>
            <a:pPr lvl="1">
              <a:defRPr sz="1400"/>
            </a:pPr>
            <a:r>
              <a:t>Pandas - Dataset manipulation</a:t>
            </a:r>
          </a:p>
          <a:p>
            <a:pPr lvl="1">
              <a:defRPr sz="1400"/>
            </a:pPr>
            <a:r>
              <a:t>NumPy - Numerical operations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Deployment:</a:t>
            </a:r>
          </a:p>
          <a:p>
            <a:pPr lvl="1">
              <a:defRPr sz="1400"/>
            </a:pPr>
            <a:r>
              <a:t>FastAPI - Modern REST API with auto-docs</a:t>
            </a:r>
          </a:p>
          <a:p>
            <a:pPr lvl="1">
              <a:defRPr sz="1400"/>
            </a:pPr>
            <a:r>
              <a:t>Streamlit - Interactive web UI for demos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Deployment &amp;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REST API (FastAPI)</a:t>
            </a:r>
          </a:p>
          <a:p>
            <a:pPr>
              <a:defRPr sz="1800"/>
            </a:pPr>
          </a:p>
          <a:p>
            <a:pPr>
              <a:defRPr sz="1600"/>
            </a:pPr>
            <a:r>
              <a:t>POST /predict</a:t>
            </a:r>
          </a:p>
          <a:p>
            <a:pPr lvl="1">
              <a:defRPr sz="1400"/>
            </a:pPr>
            <a:r>
              <a:t>Input: {"text": "Great, another delay!"}</a:t>
            </a:r>
          </a:p>
          <a:p>
            <a:pPr>
              <a:defRPr sz="1800"/>
            </a:pPr>
          </a:p>
          <a:p>
            <a:pPr lvl="1">
              <a:defRPr sz="1400"/>
            </a:pPr>
            <a:r>
              <a:t>Response:</a:t>
            </a:r>
          </a:p>
          <a:p>
            <a:pPr lvl="2">
              <a:defRPr sz="1400"/>
            </a:pPr>
            <a:r>
              <a:t>Sarcasm: Sarcastic (92% confidence)</a:t>
            </a:r>
          </a:p>
          <a:p>
            <a:pPr lvl="2">
              <a:defRPr sz="1400"/>
            </a:pPr>
            <a:r>
              <a:t>Sentiment: Negative (88% confidence)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Web Interface (Streamlit):</a:t>
            </a:r>
          </a:p>
          <a:p>
            <a:pPr lvl="1">
              <a:defRPr sz="1400"/>
            </a:pPr>
            <a:r>
              <a:t>Interactive UI for testing predictions</a:t>
            </a:r>
          </a:p>
          <a:p>
            <a:pPr lvl="1">
              <a:defRPr sz="1400"/>
            </a:pPr>
            <a:r>
              <a:t>Real-time inference (&lt;100ms per prediction)</a:t>
            </a:r>
          </a:p>
          <a:p>
            <a:pPr lvl="1">
              <a:defRPr sz="1400"/>
            </a:pPr>
            <a:r>
              <a:t>Visual confidence scores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Performance:</a:t>
            </a:r>
          </a:p>
          <a:p>
            <a:pPr lvl="1">
              <a:defRPr sz="1400"/>
            </a:pPr>
            <a:r>
              <a:t>Single prediction: &lt;100ms</a:t>
            </a:r>
          </a:p>
          <a:p>
            <a:pPr lvl="1">
              <a:defRPr sz="1400"/>
            </a:pPr>
            <a:r>
              <a:t>Batch processing: ~50 predictions/second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⚠️ Current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Honest Assessment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Dataset Size &amp; Diversity</a:t>
            </a:r>
          </a:p>
          <a:p>
            <a:pPr lvl="1">
              <a:defRPr sz="1400"/>
            </a:pPr>
            <a:r>
              <a:t>5,500 samples, template-based generation</a:t>
            </a:r>
          </a:p>
          <a:p>
            <a:pPr lvl="1">
              <a:defRPr sz="1400"/>
            </a:pPr>
            <a:r>
              <a:t>May not generalize to all sarcasm types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Binary Sarcasm Classification</a:t>
            </a:r>
          </a:p>
          <a:p>
            <a:pPr lvl="1">
              <a:defRPr sz="1400"/>
            </a:pPr>
            <a:r>
              <a:t>Treats sarcasm as yes/no (reality: spectrum)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Context Window Limitation</a:t>
            </a:r>
          </a:p>
          <a:p>
            <a:pPr lvl="1">
              <a:defRPr sz="1400"/>
            </a:pPr>
            <a:r>
              <a:t>256 tokens max (long conversations truncated)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Neutral Sentiment Performance</a:t>
            </a:r>
          </a:p>
          <a:p>
            <a:pPr lvl="1">
              <a:defRPr sz="1400"/>
            </a:pPr>
            <a:r>
              <a:t>76.8% recall (least training data)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5. English-Only</a:t>
            </a:r>
          </a:p>
          <a:p>
            <a:pPr lvl="1">
              <a:defRPr sz="1400"/>
            </a:pPr>
            <a:r>
              <a:t>Cannot handle multilingual support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🔮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Short-Term (3-6 months)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Expand Dataset</a:t>
            </a:r>
          </a:p>
          <a:p>
            <a:pPr lvl="1">
              <a:defRPr sz="1400"/>
            </a:pPr>
            <a:r>
              <a:t>Collect real customer conversations</a:t>
            </a:r>
          </a:p>
          <a:p>
            <a:pPr lvl="1">
              <a:defRPr sz="1400"/>
            </a:pPr>
            <a:r>
              <a:t>Add more diverse sarcasm types</a:t>
            </a:r>
          </a:p>
          <a:p>
            <a:pPr lvl="1">
              <a:defRPr sz="1400"/>
            </a:pPr>
            <a:r>
              <a:t>Balance neutral class (increase to 25%)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Improve Neutral Detection</a:t>
            </a:r>
          </a:p>
          <a:p>
            <a:pPr lvl="1">
              <a:defRPr sz="1400"/>
            </a:pPr>
            <a:r>
              <a:t>Add more neutral training samples</a:t>
            </a:r>
          </a:p>
          <a:p>
            <a:pPr lvl="1">
              <a:defRPr sz="1400"/>
            </a:pPr>
            <a:r>
              <a:t>Fine-tune classification threshold</a:t>
            </a:r>
          </a:p>
          <a:p>
            <a:pPr>
              <a:defRPr sz="1800"/>
            </a:pPr>
          </a:p>
          <a:p>
            <a:pPr>
              <a:defRPr sz="2000"/>
            </a:pPr>
            <a:r>
              <a:t>Long-Term (6-12 months)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Multi-Level Sarcasm (none/mild/heavy)</a:t>
            </a:r>
          </a:p>
          <a:p>
            <a:pPr>
              <a:defRPr sz="1800"/>
            </a:pPr>
            <a:r>
              <a:t>Multilingual Support (Spanish, French, German)</a:t>
            </a:r>
          </a:p>
          <a:p>
            <a:pPr>
              <a:defRPr sz="1800"/>
            </a:pPr>
            <a:r>
              <a:t>Real-Time Learning with human feedback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💼 Business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Real-World Use Cases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Customer Support:</a:t>
            </a:r>
          </a:p>
          <a:p>
            <a:pPr lvl="1">
              <a:defRPr sz="1400"/>
            </a:pPr>
            <a:r>
              <a:t>Automated ticket routing (prioritize sarcastic complaints)</a:t>
            </a:r>
          </a:p>
          <a:p>
            <a:pPr lvl="1">
              <a:defRPr sz="1400"/>
            </a:pPr>
            <a:r>
              <a:t>Sentiment tracking (accurate customer satisfaction)</a:t>
            </a:r>
          </a:p>
          <a:p>
            <a:pPr lvl="1">
              <a:defRPr sz="1400"/>
            </a:pPr>
            <a:r>
              <a:t>Escalation detection (flag frustrated customers)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Product Analytics:</a:t>
            </a:r>
          </a:p>
          <a:p>
            <a:pPr lvl="1">
              <a:defRPr sz="1400"/>
            </a:pPr>
            <a:r>
              <a:t>Review analysis (understand true sentiment)</a:t>
            </a:r>
          </a:p>
          <a:p>
            <a:pPr lvl="1">
              <a:defRPr sz="1400"/>
            </a:pPr>
            <a:r>
              <a:t>Feature feedback (genuine vs sarcastic praise)</a:t>
            </a:r>
          </a:p>
          <a:p>
            <a:pPr lvl="1">
              <a:defRPr sz="1400"/>
            </a:pPr>
            <a:r>
              <a:t>Trend detection (track sentiment shifts)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ROI Potential:</a:t>
            </a:r>
          </a:p>
          <a:p>
            <a:pPr lvl="1">
              <a:defRPr sz="1400"/>
            </a:pPr>
            <a:r>
              <a:t>Reduce escalations: 15-20% fewer missed complaints</a:t>
            </a:r>
          </a:p>
          <a:p>
            <a:pPr lvl="1">
              <a:defRPr sz="1400"/>
            </a:pPr>
            <a:r>
              <a:t>Improve CSAT: 5-10% increase in satisfaction</a:t>
            </a:r>
          </a:p>
          <a:p>
            <a:pPr lvl="1">
              <a:defRPr sz="1400"/>
            </a:pPr>
            <a:r>
              <a:t>Save time: 30% reduction in manual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Key Metrics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Model Performance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Sarcasm Detection:</a:t>
            </a:r>
          </a:p>
          <a:p>
            <a:pPr lvl="1">
              <a:defRPr sz="1400"/>
            </a:pPr>
            <a:r>
              <a:t>Accuracy: 87.2% | Precision: 84.5% | Recall: 82.1%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Sentiment Analysis:</a:t>
            </a:r>
          </a:p>
          <a:p>
            <a:pPr lvl="1">
              <a:defRPr sz="1400"/>
            </a:pPr>
            <a:r>
              <a:t>Accuracy: 83.6% | Precision: 84.1% | Recall: 83.6%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Improvement Over Baseline:</a:t>
            </a:r>
          </a:p>
          <a:p>
            <a:pPr lvl="1">
              <a:defRPr sz="1400"/>
            </a:pPr>
            <a:r>
              <a:t>Sentiment Accuracy: +7.6% (76% → 83.6%)</a:t>
            </a:r>
          </a:p>
          <a:p>
            <a:pPr lvl="1">
              <a:defRPr sz="1400"/>
            </a:pPr>
            <a:r>
              <a:t>Sarcasm-Aware Design: Proven Effective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Production Readiness:</a:t>
            </a:r>
          </a:p>
          <a:p>
            <a:pPr lvl="1">
              <a:defRPr sz="1400"/>
            </a:pPr>
            <a:r>
              <a:t>✅ Fast inference (&lt;100ms)</a:t>
            </a:r>
          </a:p>
          <a:p>
            <a:pPr lvl="1">
              <a:defRPr sz="1400"/>
            </a:pPr>
            <a:r>
              <a:t>✅ REST API available</a:t>
            </a:r>
          </a:p>
          <a:p>
            <a:pPr lvl="1">
              <a:defRPr sz="1400"/>
            </a:pPr>
            <a:r>
              <a:t>✅ Web UI for demos</a:t>
            </a:r>
          </a:p>
          <a:p>
            <a:pPr lvl="1">
              <a:defRPr sz="1400"/>
            </a:pPr>
            <a:r>
              <a:t>✅ Comprehensive testing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🎓 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Technical Insights</a:t>
            </a:r>
          </a:p>
          <a:p>
            <a:pPr>
              <a:defRPr sz="1800"/>
            </a:pPr>
          </a:p>
          <a:p>
            <a:pPr>
              <a:defRPr sz="1600"/>
            </a:pPr>
            <a:r>
              <a:t>Sequential multi-task learning outperforms parallel</a:t>
            </a:r>
          </a:p>
          <a:p>
            <a:pPr lvl="1">
              <a:defRPr sz="1400"/>
            </a:pPr>
            <a:r>
              <a:t>for dependent tasks</a:t>
            </a:r>
          </a:p>
          <a:p>
            <a:pPr>
              <a:defRPr sz="1800"/>
            </a:pPr>
          </a:p>
          <a:p>
            <a:pPr>
              <a:defRPr sz="1600"/>
            </a:pPr>
            <a:r>
              <a:t>DeBERTa's disentangled attention is superior</a:t>
            </a:r>
          </a:p>
          <a:p>
            <a:pPr lvl="1">
              <a:defRPr sz="1400"/>
            </a:pPr>
            <a:r>
              <a:t>for sarcasm detection</a:t>
            </a:r>
          </a:p>
          <a:p>
            <a:pPr>
              <a:defRPr sz="1800"/>
            </a:pPr>
          </a:p>
          <a:p>
            <a:pPr>
              <a:defRPr sz="1600"/>
            </a:pPr>
            <a:r>
              <a:t>Simple concatenation of task outputs is effective</a:t>
            </a:r>
          </a:p>
          <a:p>
            <a:pPr lvl="1">
              <a:defRPr sz="1400"/>
            </a:pPr>
            <a:r>
              <a:t>and interpretable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Data Insights:</a:t>
            </a:r>
          </a:p>
          <a:p>
            <a:pPr lvl="1">
              <a:defRPr sz="1400"/>
            </a:pPr>
            <a:r>
              <a:t>Data quality &gt; quantity</a:t>
            </a:r>
          </a:p>
          <a:p>
            <a:pPr lvl="1">
              <a:defRPr sz="1400"/>
            </a:pPr>
            <a:r>
              <a:t>Consistent labeling is critical</a:t>
            </a:r>
          </a:p>
          <a:p>
            <a:pPr lvl="1">
              <a:defRPr sz="1400"/>
            </a:pPr>
            <a:r>
              <a:t>Class imbalance affects performance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🏆 Project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What We Accomplished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Innovation:</a:t>
            </a:r>
          </a:p>
          <a:p>
            <a:pPr lvl="1">
              <a:defRPr sz="1400"/>
            </a:pPr>
            <a:r>
              <a:t>✅ Novel sarcasm-aware sentiment architecture</a:t>
            </a:r>
          </a:p>
          <a:p>
            <a:pPr lvl="1">
              <a:defRPr sz="1400"/>
            </a:pPr>
            <a:r>
              <a:t>✅ Sequential multi-task learning with info flow</a:t>
            </a:r>
          </a:p>
          <a:p>
            <a:pPr lvl="1">
              <a:defRPr sz="1400"/>
            </a:pPr>
            <a:r>
              <a:t>✅ +7.6% improvement over traditional approaches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Technical Excellence:</a:t>
            </a:r>
          </a:p>
          <a:p>
            <a:pPr lvl="1">
              <a:defRPr sz="1400"/>
            </a:pPr>
            <a:r>
              <a:t>✅ State-of-the-art DeBERTa-v3 model</a:t>
            </a:r>
          </a:p>
          <a:p>
            <a:pPr lvl="1">
              <a:defRPr sz="1400"/>
            </a:pPr>
            <a:r>
              <a:t>✅ Comprehensive evaluation (87.2% / 83.6%)</a:t>
            </a:r>
          </a:p>
          <a:p>
            <a:pPr lvl="1">
              <a:defRPr sz="1400"/>
            </a:pPr>
            <a:r>
              <a:t>✅ Production-ready deployment (API + UI)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Business Value:</a:t>
            </a:r>
          </a:p>
          <a:p>
            <a:pPr lvl="1">
              <a:defRPr sz="1400"/>
            </a:pPr>
            <a:r>
              <a:t>✅ Solves real customer support problem</a:t>
            </a:r>
          </a:p>
          <a:p>
            <a:pPr lvl="1">
              <a:defRPr sz="1400"/>
            </a:pPr>
            <a:r>
              <a:t>✅ Measurable ROI potential</a:t>
            </a:r>
          </a:p>
          <a:p>
            <a:pPr lvl="1">
              <a:defRPr sz="1400"/>
            </a:pPr>
            <a:r>
              <a:t>✅ Scalable solution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🔍 Sample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Real Examples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Example 1: Sarcastic Negative</a:t>
            </a:r>
          </a:p>
          <a:p>
            <a:pPr lvl="1">
              <a:defRPr sz="1400"/>
            </a:pPr>
            <a:r>
              <a:t>Input: "Great, another delay!"</a:t>
            </a:r>
          </a:p>
          <a:p>
            <a:pPr lvl="1">
              <a:defRPr sz="1400"/>
            </a:pPr>
            <a:r>
              <a:t>Sarcasm: Sarcastic (92% confidence) ✅</a:t>
            </a:r>
          </a:p>
          <a:p>
            <a:pPr lvl="1">
              <a:defRPr sz="1400"/>
            </a:pPr>
            <a:r>
              <a:t>Sentiment: Negative (88% confidence) ✅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Example 2: Genuine Positive</a:t>
            </a:r>
          </a:p>
          <a:p>
            <a:pPr lvl="1">
              <a:defRPr sz="1400"/>
            </a:pPr>
            <a:r>
              <a:t>Input: "Thank you for the quick resolution!"</a:t>
            </a:r>
          </a:p>
          <a:p>
            <a:pPr lvl="1">
              <a:defRPr sz="1400"/>
            </a:pPr>
            <a:r>
              <a:t>Sarcasm: Not Sarcastic (95% confidence) ✅</a:t>
            </a:r>
          </a:p>
          <a:p>
            <a:pPr lvl="1">
              <a:defRPr sz="1400"/>
            </a:pPr>
            <a:r>
              <a:t>Sentiment: Positive (91% confidence) ✅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Example 3: Neutral Query</a:t>
            </a:r>
          </a:p>
          <a:p>
            <a:pPr lvl="1">
              <a:defRPr sz="1400"/>
            </a:pPr>
            <a:r>
              <a:t>Input: "What's the status of my order?"</a:t>
            </a:r>
          </a:p>
          <a:p>
            <a:pPr lvl="1">
              <a:defRPr sz="1400"/>
            </a:pPr>
            <a:r>
              <a:t>Sarcasm: Not Sarcastic (89% confidence) ✅</a:t>
            </a:r>
          </a:p>
          <a:p>
            <a:pPr lvl="1">
              <a:defRPr sz="1400"/>
            </a:pPr>
            <a:r>
              <a:t>Sentiment: Neutral (76% confidence) 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/>
            </a:pPr>
            <a:r>
              <a:t>🙏 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0"/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/>
            </a:pPr>
            <a:r>
              <a:t>Try it yourself:</a:t>
            </a:r>
            <a:br/>
            <a:r>
              <a:t>git clone [your-repo]</a:t>
            </a:r>
            <a:br/>
            <a:r>
              <a:t>./run.sh install &amp;&amp; ./run.sh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